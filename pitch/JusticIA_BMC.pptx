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C1C14"/>
                </a:solidFill>
                <a:latin typeface="Calibri"/>
              </a:rPr>
              <a:t>Business Model Canvas</a:t>
            </a:r>
          </a:p>
          <a:p>
            <a:r>
              <a:rPr sz="1300">
                <a:solidFill>
                  <a:srgbClr val="7A2E2A"/>
                </a:solidFill>
                <a:latin typeface="Calibri"/>
              </a:rPr>
              <a:t>JusticIA  ·  l'accès au droit algérien, en français et en arabe  ·  Hackathon Nous — Challenge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2204252" cy="3803904"/>
          </a:xfrm>
          <a:prstGeom prst="roundRect">
            <a:avLst/>
          </a:prstGeom>
          <a:solidFill>
            <a:srgbClr val="F5ECE2"/>
          </a:solidFill>
          <a:ln w="9525">
            <a:solidFill>
              <a:srgbClr val="D8C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7A2E2A"/>
                </a:solidFill>
                <a:latin typeface="Calibri"/>
              </a:rPr>
              <a:t>PARTENAIRES CLÉS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Ministère de la Justice, Dzair Digital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Avocats &amp; aide juridictionnelle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Associations (APOCE, consommateurs)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Universités &amp; facultés de droit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Maisons de justice, mairies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79740" y="1280160"/>
            <a:ext cx="2204252" cy="1847088"/>
          </a:xfrm>
          <a:prstGeom prst="roundRect">
            <a:avLst/>
          </a:prstGeom>
          <a:solidFill>
            <a:srgbClr val="F5ECE2"/>
          </a:solidFill>
          <a:ln w="9525">
            <a:solidFill>
              <a:srgbClr val="D8C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7A2E2A"/>
                </a:solidFill>
                <a:latin typeface="Calibri"/>
              </a:rPr>
              <a:t>ACTIVITÉS CLÉS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Développement de la plateforme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Curation du corpus juridique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Entraînement du modèle 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79740" y="3236976"/>
            <a:ext cx="2204252" cy="1847088"/>
          </a:xfrm>
          <a:prstGeom prst="roundRect">
            <a:avLst/>
          </a:prstGeom>
          <a:solidFill>
            <a:srgbClr val="F5ECE2"/>
          </a:solidFill>
          <a:ln w="9525">
            <a:solidFill>
              <a:srgbClr val="D8C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7A2E2A"/>
                </a:solidFill>
                <a:latin typeface="Calibri"/>
              </a:rPr>
              <a:t>RESSOURCES CLÉS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Corpus de lois algériennes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Modèle ML entraîné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Équipe tech + juridique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93721" y="1280160"/>
            <a:ext cx="2204252" cy="3803904"/>
          </a:xfrm>
          <a:prstGeom prst="roundRect">
            <a:avLst/>
          </a:prstGeom>
          <a:solidFill>
            <a:srgbClr val="C8794F"/>
          </a:solidFill>
          <a:ln w="9525">
            <a:solidFill>
              <a:srgbClr val="D8C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PROPOSITION DE VALEUR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 Comprendre ses droits en FR &amp; arabe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 Réponses ancrées dans la loi, sans invention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 Scanner de clauses abusives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 Mode urgence + démarches par wilaya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alibri"/>
              </a:rPr>
              <a:t>•  Gratuit, accessible, sans avocat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7701" y="1280160"/>
            <a:ext cx="2204252" cy="1847088"/>
          </a:xfrm>
          <a:prstGeom prst="roundRect">
            <a:avLst/>
          </a:prstGeom>
          <a:solidFill>
            <a:srgbClr val="F5ECE2"/>
          </a:solidFill>
          <a:ln w="9525">
            <a:solidFill>
              <a:srgbClr val="D8C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7A2E2A"/>
                </a:solidFill>
                <a:latin typeface="Calibri"/>
              </a:rPr>
              <a:t>RELATIONS CLIENTS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Assistant en libre-service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Gamification (simulateur)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Escalade vers de vrais avocats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07701" y="3236976"/>
            <a:ext cx="2204252" cy="1847088"/>
          </a:xfrm>
          <a:prstGeom prst="roundRect">
            <a:avLst/>
          </a:prstGeom>
          <a:solidFill>
            <a:srgbClr val="F5ECE2"/>
          </a:solidFill>
          <a:ln w="9525">
            <a:solidFill>
              <a:srgbClr val="D8C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7A2E2A"/>
                </a:solidFill>
                <a:latin typeface="Calibri"/>
              </a:rPr>
              <a:t>CANAUX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Application web puis mobile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Universités, réseaux sociaux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Guichets publics partenaires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21682" y="1280160"/>
            <a:ext cx="2204252" cy="3803904"/>
          </a:xfrm>
          <a:prstGeom prst="roundRect">
            <a:avLst/>
          </a:prstGeom>
          <a:solidFill>
            <a:srgbClr val="F5ECE2"/>
          </a:solidFill>
          <a:ln w="9525">
            <a:solidFill>
              <a:srgbClr val="D8C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7A2E2A"/>
                </a:solidFill>
                <a:latin typeface="Calibri"/>
              </a:rPr>
              <a:t>SEGMENTS DE CLIENTÈLE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Citoyens, populations vulnérables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Ruraux, faibles revenus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Peu alphabétisés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Étudiants &amp; universités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Associations &amp; 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193792"/>
            <a:ext cx="6832213" cy="1389887"/>
          </a:xfrm>
          <a:prstGeom prst="roundRect">
            <a:avLst/>
          </a:prstGeom>
          <a:solidFill>
            <a:srgbClr val="F5ECE2"/>
          </a:solidFill>
          <a:ln w="9525">
            <a:solidFill>
              <a:srgbClr val="D8C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7A2E2A"/>
                </a:solidFill>
                <a:latin typeface="Calibri"/>
              </a:rPr>
              <a:t>STRUCTURE DE COÛTS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Développement &amp; hébergement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Juristes pour la curation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Marketing &amp; partenariats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Coût léger : CPU, open-source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7701" y="5193792"/>
            <a:ext cx="4518233" cy="1389887"/>
          </a:xfrm>
          <a:prstGeom prst="roundRect">
            <a:avLst/>
          </a:prstGeom>
          <a:solidFill>
            <a:srgbClr val="F5ECE2"/>
          </a:solidFill>
          <a:ln w="9525">
            <a:solidFill>
              <a:srgbClr val="D8C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64008"/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A8763A"/>
                </a:solidFill>
                <a:latin typeface="Calibri"/>
              </a:rPr>
              <a:t>SOURCES DE REVENUS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Freemium, gratuit pour les citoyens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B2B : cabinets &amp; associations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Subventions &amp; partenariats publics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C1C14"/>
                </a:solidFill>
                <a:latin typeface="Calibri"/>
              </a:rPr>
              <a:t>•  Premium : mise en relation, rapports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